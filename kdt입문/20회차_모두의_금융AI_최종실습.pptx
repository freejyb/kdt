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37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3840480" cy="3840480"/>
          </a:xfrm>
          <a:prstGeom prst="ellipse">
            <a:avLst/>
          </a:prstGeom>
          <a:solidFill>
            <a:srgbClr val="2E3B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2E3B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28655" y="5394960"/>
            <a:ext cx="1737360" cy="17373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모두의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금융 AI 최종실습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금융데이터 수집부터 수익률·위험 분석, AI 예측모델 구현까지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1~19회차 내용을 하나의 실습 프로젝트로 연결하는 마무리 과정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전윤범 교수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3383280"/>
          </a:xfrm>
          <a:prstGeom prst="roundRect">
            <a:avLst>
              <a:gd name="adj" fmla="val 2162"/>
            </a:avLst>
          </a:prstGeom>
          <a:solidFill>
            <a:srgbClr val="F7F7F9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</a:t>
            </a:r>
            <a:r>
              <a:rPr lang="en-US" sz="1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내용을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하나의 실습 프로젝트로 연결을 통해서 마무리 정리하고 리뷰한다.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214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금융데이터를 수집하고 분석에 적합한 형태로 정리할 수 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786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수익률과 변동성을 계산하여 투자성과를 비교할 수 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358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수익률을 비교할 수 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930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 국면(상승, 하락)을 예측하는 모델을 학습할 수 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실습파일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https://github.com/freejyb/KDT/kdt 입문/20회차 모두의 금융 AI 최종 실습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예측모델 구현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2027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데이터 수집 → 전처리 → Feature </a:t>
            </a:r>
            <a:r>
              <a:rPr lang="en-US" sz="2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생성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→ 모델 학습 → </a:t>
            </a:r>
            <a:r>
              <a:rPr lang="en-US" sz="2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성능평가</a:t>
            </a:r>
            <a:endParaRPr lang="en-US" sz="2400" b="1" dirty="0">
              <a:solidFill>
                <a:srgbClr val="1E2761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436925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2436925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005930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2436925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D9F0EE"/>
          </a:solidFill>
          <a:ln w="12700">
            <a:solidFill>
              <a:srgbClr val="B7DE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514600" y="2436925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E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035420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17320" y="3214165"/>
            <a:ext cx="0" cy="457200"/>
          </a:xfrm>
          <a:prstGeom prst="line">
            <a:avLst/>
          </a:prstGeom>
          <a:noFill/>
          <a:ln w="19050">
            <a:solidFill>
              <a:srgbClr val="3D6FB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91840" y="3214165"/>
            <a:ext cx="0" cy="457200"/>
          </a:xfrm>
          <a:prstGeom prst="line">
            <a:avLst/>
          </a:prstGeom>
          <a:noFill/>
          <a:ln w="19050">
            <a:solidFill>
              <a:srgbClr val="2E9E9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3762805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F7F7F9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762805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수익률·위험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54580" y="4448605"/>
            <a:ext cx="0" cy="411480"/>
          </a:xfrm>
          <a:prstGeom prst="line">
            <a:avLst/>
          </a:prstGeom>
          <a:noFill/>
          <a:ln w="1905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0080" y="4860085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EDE6F7"/>
          </a:solidFill>
          <a:ln w="12700">
            <a:solidFill>
              <a:srgbClr val="D6C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860085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+ LSTM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다음날 상승 여부 예측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DCE7F7"/>
          </a:solidFill>
          <a:ln w="12700">
            <a:solidFill>
              <a:srgbClr val="DCE7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 Review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86200" y="1897380"/>
            <a:ext cx="320040" cy="0"/>
          </a:xfrm>
          <a:prstGeom prst="line">
            <a:avLst/>
          </a:prstGeom>
          <a:noFill/>
          <a:ln w="1905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파이프라인: 수집 → 전처리 →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→ 학습 → 평가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146304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206240" y="1463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수익률 · 위험 · 포트폴리오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52360" y="1897380"/>
            <a:ext cx="320040" cy="0"/>
          </a:xfrm>
          <a:prstGeom prst="line">
            <a:avLst/>
          </a:prstGeom>
          <a:noFill/>
          <a:ln w="1905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0624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· NAVER 종가를 결합하고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 수익률을 계산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146304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BEADF"/>
          </a:solidFill>
          <a:ln w="12700">
            <a:solidFill>
              <a:srgbClr val="FBEA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0" y="1463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예측모형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Tree는 기본 모델, LSTM은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모델로 비교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7F7F9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"금융 AI는 코드보다 데이터 흐름과 평가 해석이 중요하다."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파이프라인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Notebook에서는 아래 순서대로 셀을 실행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DCE7F7"/>
          </a:solidFill>
          <a:ln w="12700">
            <a:solidFill>
              <a:srgbClr val="DCE7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pykrx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005930·035420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31720" y="2446020"/>
            <a:ext cx="118872" cy="0"/>
          </a:xfrm>
          <a:prstGeom prst="line">
            <a:avLst/>
          </a:prstGeom>
          <a:noFill/>
          <a:ln w="1524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450592" y="18745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D9F0EE"/>
          </a:solidFill>
          <a:ln w="12700">
            <a:solidFill>
              <a:srgbClr val="D9F0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523744" y="187452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E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종가 결합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E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 제거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42232" y="2446020"/>
            <a:ext cx="118872" cy="0"/>
          </a:xfrm>
          <a:prstGeom prst="line">
            <a:avLst/>
          </a:prstGeom>
          <a:noFill/>
          <a:ln w="1524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261104" y="18745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DCEED9"/>
          </a:solidFill>
          <a:ln w="12700">
            <a:solidFill>
              <a:srgbClr val="DCEE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334256" y="187452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수익률·위험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pct_change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표준편차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52744" y="2446020"/>
            <a:ext cx="118872" cy="0"/>
          </a:xfrm>
          <a:prstGeom prst="line">
            <a:avLst/>
          </a:prstGeom>
          <a:noFill/>
          <a:ln w="1524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071616" y="18745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BEFDA"/>
          </a:solidFill>
          <a:ln w="12700">
            <a:solidFill>
              <a:srgbClr val="FBEF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44768" y="187452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9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99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50:50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99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가중평균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63256" y="2446020"/>
            <a:ext cx="118872" cy="0"/>
          </a:xfrm>
          <a:prstGeom prst="line">
            <a:avLst/>
          </a:prstGeom>
          <a:noFill/>
          <a:ln w="1524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882128" y="18745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EDE6F7"/>
          </a:solidFill>
          <a:ln w="12700">
            <a:solidFill>
              <a:srgbClr val="EDE6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955280" y="187452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예측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73768" y="2446020"/>
            <a:ext cx="118872" cy="0"/>
          </a:xfrm>
          <a:prstGeom prst="line">
            <a:avLst/>
          </a:prstGeom>
          <a:noFill/>
          <a:ln w="1524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692640" y="18745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6DEE3"/>
          </a:solidFill>
          <a:ln w="12700">
            <a:solidFill>
              <a:srgbClr val="F6DE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765792" y="187452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B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B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혼동행렬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37033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입력 데이터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종가 · 거래량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91840" y="4046220"/>
            <a:ext cx="320040" cy="0"/>
          </a:xfrm>
          <a:prstGeom prst="line">
            <a:avLst/>
          </a:prstGeom>
          <a:noFill/>
          <a:ln w="1524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611880" y="37033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1188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611880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수익률 · MA · 변동성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80760" y="4046220"/>
            <a:ext cx="320040" cy="0"/>
          </a:xfrm>
          <a:prstGeom prst="line">
            <a:avLst/>
          </a:prstGeom>
          <a:noFill/>
          <a:ln w="1524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00800" y="37033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0080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00800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다음날 상승 = 1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869680" y="4046220"/>
            <a:ext cx="320040" cy="0"/>
          </a:xfrm>
          <a:prstGeom prst="line">
            <a:avLst/>
          </a:prstGeom>
          <a:noFill/>
          <a:ln w="1524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189720" y="37033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18972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189720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성능 비교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수집 : 라이브러리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pykrx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사용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주식은 KRX 종목코드 기반 수집이 더 안정적인 경우가 있음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005930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97480" y="16916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D9F0EE"/>
          </a:solidFill>
          <a:ln w="12700">
            <a:solidFill>
              <a:srgbClr val="B7DE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697480" y="1691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E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035420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2080260"/>
            <a:ext cx="457200" cy="0"/>
          </a:xfrm>
          <a:prstGeom prst="line">
            <a:avLst/>
          </a:prstGeom>
          <a:noFill/>
          <a:ln w="1905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349240" y="16916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49240" y="1691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pykrx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get_market_ohlcv_by_date()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75320" y="2080260"/>
            <a:ext cx="457200" cy="0"/>
          </a:xfrm>
          <a:prstGeom prst="line">
            <a:avLst/>
          </a:prstGeom>
          <a:noFill/>
          <a:ln w="1905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823960" y="169164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DCEED9"/>
          </a:solidFill>
          <a:ln w="12700">
            <a:solidFill>
              <a:srgbClr val="BFE0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915400" y="1691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시가·고가·저가·종가·거래량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5577840" cy="242316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77240" y="313639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78408" y="313639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79576" y="313639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68680" y="338328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B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pykrx import stock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B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2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get_stock_data(ticker):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stock.get_market_ohlcv_by_date(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C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fromdate=start_date, todate=end_date,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C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ticker=ticker, freq="d", adjusted=True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df.sort_index()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3017520"/>
            <a:ext cx="50749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20840" y="3246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포인트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3749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종목명보다 종목코드를 사용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42062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실패 가능성을 고려해 재시도 함수 사용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46634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종가는 close DataFrame으로 결합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수익률과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위험 계산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 수준이 아니라 변화율로 비교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 수익률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rₜ = Pₜ / Pₜ₋₁ - 1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D9F0EE"/>
          </a:solidFill>
          <a:ln w="12700">
            <a:solidFill>
              <a:srgbClr val="B7DE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480560" y="1737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연환산 수익률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mean(r) × 252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BEADF"/>
          </a:solidFill>
          <a:ln w="12700">
            <a:solidFill>
              <a:srgbClr val="EBCB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138160" y="1737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연환산 위험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0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std(r) × √252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577840" cy="2240280"/>
          </a:xfrm>
          <a:prstGeom prst="roundRect">
            <a:avLst>
              <a:gd name="adj" fmla="val 3750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7240" y="345643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78408" y="345643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79576" y="345643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370332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= close.pct_change().dropna()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annual_return = returns.mean() * 252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annual_risk = returns.std() * np.sqrt(252)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3337560"/>
            <a:ext cx="50749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20840" y="3566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 설명 포인트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0690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수익률은 "얼마나 벌었나"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4526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위험은 "수익률이 얼마나 흔들렸나"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4983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수익률이면 위험이 낮은 자산이 더 안정적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50:50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포트폴리오 수익률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벡터·행렬 개념을 금융 실습으로 연결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수익률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71800" y="16916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D9F0EE"/>
          </a:solidFill>
          <a:ln w="12700">
            <a:solidFill>
              <a:srgbClr val="B7DE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NAVER 수익률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71800" y="26060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023360" y="2491740"/>
            <a:ext cx="502920" cy="0"/>
          </a:xfrm>
          <a:prstGeom prst="line">
            <a:avLst/>
          </a:prstGeom>
          <a:noFill/>
          <a:ln w="1905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수익률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0.5× 삼성전자 + 0.5×NAVER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491740"/>
            <a:ext cx="457200" cy="0"/>
          </a:xfrm>
          <a:prstGeom prst="line">
            <a:avLst/>
          </a:prstGeom>
          <a:noFill/>
          <a:ln w="1905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686800" y="187452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EDE6F7"/>
          </a:solidFill>
          <a:ln w="12700">
            <a:solidFill>
              <a:srgbClr val="D6C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0" y="18745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계산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σₚ = √(wᵀΣw)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5577840" cy="1691640"/>
          </a:xfrm>
          <a:prstGeom prst="roundRect">
            <a:avLst>
              <a:gd name="adj" fmla="val 3243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77240" y="368503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78408" y="368503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79576" y="368503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8680" y="3931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 = np.array([0.5, 0.5])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portfolio_return = returns.dot(weights)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annual_cov = returns.cov() * 252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portfolio_risk = np.sqrt(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weights.T @ annual_cov.values @ weights)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35661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20840" y="379476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포인트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위험은 단순 평균이 아니라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종목이 함께 움직이는 정도, 즉 공분산의 영향을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받는다.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누적수익률 비교 후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데이터로 전환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투자성과 확인에서 "예측 문제"로 넘어가는 연결 슬라이드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DCEED9"/>
          </a:solidFill>
          <a:ln w="12700">
            <a:solidFill>
              <a:srgbClr val="BFE0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누적수익률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 + 일별수익률).cumprod() - 1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77240" y="382219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78408" y="382219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79576" y="382219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asset_and_portfolio_returns = returns.copy()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asset_and_portfolio_returns["50:50 포트폴리오"] =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portfolio_return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cumulative_returns = (1 + asset_and_portfolio_returns)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.cumprod() - 1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해석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606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시작점을 0%로 맞춰 종목별 누적성과 비교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31729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포트폴리오가 개별 종목보다 안정적인지 확인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37398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질문 : "내일은 오를까?"로 전환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44348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2FB"/>
          </a:solidFill>
          <a:ln w="12700">
            <a:solidFill>
              <a:srgbClr val="D6E0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92240" y="4434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데이터를 사용해 Feature와 Target을 만든다.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생성과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라벨링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학습할 표 형태 데이터 만들기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577840" cy="252374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D6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수익률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오늘 주가 변화율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D6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종가_MA5 비율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5일 평균 대비 현재 위치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D6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변동성5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최근 5일 흔들림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D6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거래량변화율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거래량 증가·감소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다음날 상승 여부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상승=1, 하락·보합=0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572000"/>
            <a:ext cx="5577840" cy="1828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77240" y="469087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78408" y="469087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179576" y="469087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68680" y="493776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samsung["수익률"] = samsung["종가"].pct_change()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samsung["MA5"] = samsung["종가"].rolling(5).mean()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samsung["변동성5"] = samsung["수익률"].rolling(5).std()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samsung["다음날수익률"] = samsung["수익률"].shift(-1)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samsung["Target"] = (samsung["다음날수익률"] &gt; 0)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.astype(int)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46520" y="169164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F9E3E3"/>
          </a:solidFill>
          <a:ln w="12700">
            <a:solidFill>
              <a:srgbClr val="EFC5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8"/>
          <p:cNvSpPr/>
          <p:nvPr/>
        </p:nvSpPr>
        <p:spPr>
          <a:xfrm>
            <a:off x="644652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주의 : shift(-1)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46520" y="26517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Feature로 다음 거래일 상승 여부를 예측하기 위해 Target을 한 칸 앞으로 당깁니다.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46520" y="374904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629400" y="37490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누수 금지</a:t>
            </a:r>
            <a:endParaRPr lang="en-US" sz="13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정보를 Feature에 넣으면 모델 성능이 과장된다.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기본 모델 :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분류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설명하기 쉬운 모델로 먼저 예측 구조를 이해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103120"/>
            <a:ext cx="137160" cy="0"/>
          </a:xfrm>
          <a:prstGeom prst="line">
            <a:avLst/>
          </a:prstGeom>
          <a:noFill/>
          <a:ln w="1651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0" y="16916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DCEED9"/>
          </a:solidFill>
          <a:ln w="12700">
            <a:solidFill>
              <a:srgbClr val="BFE0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88920" y="1691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 80%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137160" cy="0"/>
          </a:xfrm>
          <a:prstGeom prst="line">
            <a:avLst/>
          </a:prstGeom>
          <a:noFill/>
          <a:ln w="1651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EDE6F7"/>
          </a:solidFill>
          <a:ln w="12700">
            <a:solidFill>
              <a:srgbClr val="D6C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12280" y="2103120"/>
            <a:ext cx="137160" cy="0"/>
          </a:xfrm>
          <a:prstGeom prst="line">
            <a:avLst/>
          </a:prstGeom>
          <a:noFill/>
          <a:ln w="1651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949440" y="16916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BEFDA"/>
          </a:solidFill>
          <a:ln w="12700">
            <a:solidFill>
              <a:srgbClr val="EBD8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99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데이터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99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뒤 20%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15400" y="2103120"/>
            <a:ext cx="137160" cy="0"/>
          </a:xfrm>
          <a:prstGeom prst="line">
            <a:avLst/>
          </a:prstGeom>
          <a:noFill/>
          <a:ln w="1651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6DEE3"/>
          </a:solidFill>
          <a:ln w="12700">
            <a:solidFill>
              <a:srgbClr val="EFC0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098280" y="16916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예측값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또는 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77240" y="322783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78408" y="322783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79576" y="322783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68680" y="34747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split_index = int(len(X) * 0.8)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 = X.iloc[:split_index], X.iloc[split_index:]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y_train, y_test = y.iloc[:split_index], y.iloc[split_index:]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tree_model = DecisionTreeClassifier(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C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max_depth=3, min_samples_leaf=10, random_state=42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tree_model.fit(X_train, y_train)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31089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720840" y="3337560"/>
            <a:ext cx="4526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무작위 분리하지 않나?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 데이터는 시간 순서가 중요하므로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과거로 학습하고 미래 구간으로 평가해야 한다.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성능평가 :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맞춘 비율만 보지 않기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Accuracy와 함께 Precision, Recall, F1, 혼동행렬을 확인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중 맞춘 비율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691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DCEED9"/>
          </a:solidFill>
          <a:ln w="12700">
            <a:solidFill>
              <a:srgbClr val="BFE0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상승 예측 중 실제 상승 비율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BEFDA"/>
          </a:solidFill>
          <a:ln w="12700">
            <a:solidFill>
              <a:srgbClr val="EBD8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99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C99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상승 중 맞춘 비율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0" y="1691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DE6F7"/>
          </a:solidFill>
          <a:ln w="12700">
            <a:solidFill>
              <a:srgbClr val="D6C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96112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Precision과 Recall의 균형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3931920" cy="170078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 하락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 상승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하락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F8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4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상승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4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F8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10"/>
          <p:cNvSpPr/>
          <p:nvPr/>
        </p:nvSpPr>
        <p:spPr>
          <a:xfrm>
            <a:off x="4892040" y="288036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029200" y="299923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230368" y="299923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431536" y="299923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120640" y="324612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accuracy_score(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y_test, tree_pred)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precision_score(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y_test, tree_pred, zero_division=0)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recall_score(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y_test, tree_pred, zero_division=0)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f1_score(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y_test, tree_pred, zero_division=0)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ConfusionMatrixDisplay(...)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595360" y="2880360"/>
            <a:ext cx="2926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778240" y="3108960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메시지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주가 방향 예측은 50% 부근이 나와도 이상하지 않다. 높은 성능보다 데이터 누수 없는 평가가 더 중요하다.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심화 모델 :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으로 시계열 패턴 학습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20일 데이터를 하나의 입력 묶음으로 사용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91640" y="2080260"/>
            <a:ext cx="109728" cy="0"/>
          </a:xfrm>
          <a:prstGeom prst="line">
            <a:avLst/>
          </a:prstGeom>
          <a:noFill/>
          <a:ln w="1651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801368" y="178308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801368" y="17830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52928" y="2080260"/>
            <a:ext cx="109728" cy="0"/>
          </a:xfrm>
          <a:prstGeom prst="line">
            <a:avLst/>
          </a:prstGeom>
          <a:noFill/>
          <a:ln w="1651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962656" y="178308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62656" y="17830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14216" y="2080260"/>
            <a:ext cx="109728" cy="0"/>
          </a:xfrm>
          <a:prstGeom prst="line">
            <a:avLst/>
          </a:prstGeom>
          <a:noFill/>
          <a:ln w="1651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123944" y="1783080"/>
            <a:ext cx="1051560" cy="594360"/>
          </a:xfrm>
          <a:prstGeom prst="roundRect">
            <a:avLst>
              <a:gd name="adj" fmla="val 12308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23944" y="178308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85232" y="2080260"/>
            <a:ext cx="411480" cy="0"/>
          </a:xfrm>
          <a:prstGeom prst="line">
            <a:avLst/>
          </a:prstGeom>
          <a:noFill/>
          <a:ln w="1905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696712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DE6F7"/>
          </a:solidFill>
          <a:ln w="12700">
            <a:solidFill>
              <a:srgbClr val="D6C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96712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159752" y="2080260"/>
            <a:ext cx="411480" cy="0"/>
          </a:xfrm>
          <a:prstGeom prst="line">
            <a:avLst/>
          </a:prstGeom>
          <a:noFill/>
          <a:ln w="19050">
            <a:solidFill>
              <a:srgbClr val="6B70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571232" y="169164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DCEED9"/>
          </a:solidFill>
          <a:ln w="12700">
            <a:solidFill>
              <a:srgbClr val="BFE0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71232" y="1691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다음날 상승확률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~ 1.0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30632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구조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17520" y="3063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샘플 수 × 과거 기간 × Feature 수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0" y="306324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7F7F9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229600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 : 500 × 20 × 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7F7F9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22960" y="4069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Tree는 "표 한 줄"을 보고 판단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LSTM은 "최근 20일 흐름"을 보고 판단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 핵심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 표준화와 시퀀스 생성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누수를 줄이기 위해 학습 데이터 기준으로만 표준화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42316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8105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78408" y="18105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79576" y="18105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sequence_length = 20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X_train_scaled = scaler.fit_transform(X_train_raw)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X_test_scaled = scaler.transform(X_test_raw)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X_train_lstm, y_train_lstm = create_sequences(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X_train_scaled, y_train_raw, sequence_length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242316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09360" y="1810512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510528" y="1810512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711696" y="1810512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205740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lstm_model = Sequential([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Input(shape=(sequence_length, len(lstm_features))),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LSTM(32),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Dropout(0.2),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Dense(16, activation="relu"),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Dense(1, activation="sigmoid")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09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lstm_model.fit(..., shuffle=False)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체크 1</a:t>
            </a:r>
            <a:endParaRPr lang="en-US" sz="13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sequence_length = 20을 먼저 정의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97680" y="44348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DCEED9"/>
          </a:solidFill>
          <a:ln w="12700">
            <a:solidFill>
              <a:srgbClr val="BFE0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434840" y="4434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체크 2</a:t>
            </a:r>
            <a:endParaRPr lang="en-US" sz="13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F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 기준은 학습 데이터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955280" y="44348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BEFDA"/>
          </a:solidFill>
          <a:ln w="12700">
            <a:solidFill>
              <a:srgbClr val="EBD8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092440" y="4434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99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체크 3</a:t>
            </a:r>
            <a:endParaRPr lang="en-US" sz="13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99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시계열이므로 shuffle=False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와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비교 정리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숫자보다 모델의 역할과 해석 방법을 이해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2377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 포인트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D6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시점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최근 20일 시퀀스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구조 차이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D6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 쉬움, 시각화 가능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 흐름 학습 가능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vs 심화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D6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혼동행렬,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혼동행렬,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동일 지표 비교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D6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단순 규칙에 과적합 가능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적으면 과적합 가능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성능 과신 금지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3434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DCE7F7"/>
          </a:solidFill>
          <a:ln w="12700">
            <a:solidFill>
              <a:srgbClr val="B7C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6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한 문장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108960" y="43434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"좋은 금융 AI는 높은 정확도 하나가 아니라, 올바른 데이터 흐름과 검증에서 시작한다."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마무리 </a:t>
            </a:r>
            <a:r>
              <a:rPr lang="en-US" sz="3000" b="1" dirty="0">
                <a:solidFill>
                  <a:srgbClr val="C9A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메시지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결론은</a:t>
            </a:r>
            <a:r>
              <a:rPr lang="en-US" sz="16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"금융 AI 프로젝트의 전체 흐름을 이해하는 것"</a:t>
            </a:r>
            <a:r>
              <a:rPr lang="en-US" sz="16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020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40208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02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내용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0500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02387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삼성전자·NAVER 주가데이터 수집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25704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수익률과 위험 계산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49021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일별수익률과 위험을 연환산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27233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50:50 포트폴리오 수익률 계산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29565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Tree로 내일 상승/하락 예측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1897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성능평가와 Feature Importance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34229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LSTM으로 시계열 딥러닝 확장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365607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표준화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38892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시퀀스 데이터 생성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41224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모델 생성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43555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학습 과정 시각화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45201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성능평가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1402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C9762D"/>
          </a:solidFill>
          <a:ln w="12700">
            <a:solidFill>
              <a:srgbClr val="C97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09360" y="1402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유의사항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190500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37960" y="2087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모델은 투자 정답지가 아니라 의사결정 참고 도구입니다.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2517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모델보다 먼저 좋은 데이터와 올바른 문제 정의가 필요합니다.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29474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특히 feature 선택이 중요합니다.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33771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실무에서는 백테스트, 거래비용, 리스크관리까지 함께 검토합니다.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8069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모델을 적용해보는게 중요합니다.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4236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예측모델은 모니터링이 필요하고 주기적인 성능평가 및 개선 작업이 수행되어야 합니다.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871720"/>
            <a:ext cx="10881360" cy="1849120"/>
          </a:xfrm>
          <a:prstGeom prst="roundRect">
            <a:avLst>
              <a:gd name="adj" fmla="val 7619"/>
            </a:avLst>
          </a:prstGeom>
          <a:solidFill>
            <a:srgbClr val="F7F7F9"/>
          </a:solidFill>
          <a:ln w="12700">
            <a:solidFill>
              <a:srgbClr val="E4E4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68680" y="50596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질문 :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AI 프로젝트에서 가장 먼저 해야 할 일은 모델 선택일까, 문제 정의일까?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: 문제 정의가 먼저입니다. 어떤 금융문제를 해결할지 명확해야 적절한 AI 기술을 선택할 수 </a:t>
            </a:r>
            <a:r>
              <a:rPr lang="en-US" sz="13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</a:t>
            </a: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r>
              <a:rPr lang="en-US" altLang="ko-KR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</a:t>
            </a:r>
            <a:endParaRPr lang="en-US" altLang="ko-KR" sz="1300" dirty="0"/>
          </a:p>
          <a:p>
            <a:pPr>
              <a:lnSpc>
                <a:spcPct val="120000"/>
              </a:lnSpc>
            </a:pPr>
            <a:r>
              <a:rPr lang="ko-KR" altLang="ko-KR" sz="1200" dirty="0" err="1"/>
              <a:t>AI는</a:t>
            </a:r>
            <a:r>
              <a:rPr lang="ko-KR" altLang="ko-KR" sz="1200" dirty="0"/>
              <a:t> 목적이 아니라 금융 문제를 해결하기 위한 도구입니다. 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ko-KR" altLang="ko-KR" sz="1200" dirty="0"/>
              <a:t>문제를 정의하고, 데이터를 준비하고, 적절한 </a:t>
            </a:r>
            <a:r>
              <a:rPr lang="ko-KR" altLang="ko-KR" sz="1200" dirty="0" err="1"/>
              <a:t>AI를</a:t>
            </a:r>
            <a:r>
              <a:rPr lang="ko-KR" altLang="ko-KR" sz="1200" dirty="0"/>
              <a:t> 선택하는 것이 금융 AI 프로젝트의 출발점입니다.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2E3B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463040" y="5029200"/>
            <a:ext cx="2926080" cy="2926080"/>
          </a:xfrm>
          <a:prstGeom prst="ellipse">
            <a:avLst/>
          </a:prstGeom>
          <a:solidFill>
            <a:srgbClr val="2E3B7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"Thank you for your attention."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1739</Words>
  <Application>Microsoft Office PowerPoint</Application>
  <PresentationFormat>와이드스크린</PresentationFormat>
  <Paragraphs>338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전 윤범</cp:lastModifiedBy>
  <cp:revision>4</cp:revision>
  <dcterms:created xsi:type="dcterms:W3CDTF">2026-08-05T09:37:17Z</dcterms:created>
  <dcterms:modified xsi:type="dcterms:W3CDTF">2026-08-05T15:33:37Z</dcterms:modified>
</cp:coreProperties>
</file>